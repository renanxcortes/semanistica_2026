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Vítimas de homicídio doloso</c:v>
                </c:pt>
              </c:strCache>
            </c:strRef>
          </c:tx>
          <c:spPr>
            <a:solidFill>
              <a:srgbClr val="D9D3C9"/>
            </a:solidFill>
          </c:spPr>
          <c:dPt>
            <c:idx val="0"/>
            <c:spPr>
              <a:solidFill>
                <a:srgbClr val="C1121F"/>
              </a:solidFill>
            </c:spPr>
          </c:dPt>
          <c:cat>
            <c:strRef>
              <c:f>Sheet1!$A$2:$A$5</c:f>
              <c:strCache>
                <c:ptCount val="4"/>
                <c:pt idx="0">
                  <c:v>2017
(pico)</c:v>
                </c:pt>
                <c:pt idx="1">
                  <c:v>2018</c:v>
                </c:pt>
                <c:pt idx="2">
                  <c:v>2021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2990</c:v>
                </c:pt>
                <c:pt idx="1">
                  <c:v>2368</c:v>
                </c:pt>
                <c:pt idx="2">
                  <c:v>1561</c:v>
                </c:pt>
                <c:pt idx="3">
                  <c:v>1474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1818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200">
                <a:solidFill>
                  <a:srgbClr val="3A3A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D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100">
                <a:solidFill>
                  <a:srgbClr val="3A3A3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Prob. de transição para 'com ocorrência'</c:v>
                </c:pt>
              </c:strCache>
            </c:strRef>
          </c:tx>
          <c:spPr>
            <a:solidFill>
              <a:srgbClr val="D9D3C9"/>
            </a:solidFill>
          </c:spPr>
          <c:dPt>
            <c:idx val="1"/>
            <c:spPr>
              <a:solidFill>
                <a:srgbClr val="C1121F"/>
              </a:solidFill>
            </c:spPr>
          </c:dPt>
          <c:cat>
            <c:strRef>
              <c:f>Sheet1!$A$2:$A$3</c:f>
              <c:strCache>
                <c:ptCount val="2"/>
                <c:pt idx="0">
                  <c:v>2002 → 2003</c:v>
                </c:pt>
                <c:pt idx="1">
                  <c:v>2003 → 2004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0.18</c:v>
                </c:pt>
                <c:pt idx="1">
                  <c:v>0.84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500" b="1">
                  <a:solidFill>
                    <a:srgbClr val="1818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300">
                <a:solidFill>
                  <a:srgbClr val="3A3A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6350">
              <a:solidFill>
                <a:srgbClr val="E0E0D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100">
                <a:solidFill>
                  <a:srgbClr val="3A3A3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Moran (k-NN, 1ª ordem)</c:v>
                </c:pt>
              </c:strCache>
            </c:strRef>
          </c:tx>
          <c:spPr>
            <a:solidFill>
              <a:srgbClr val="C1121F"/>
            </a:solidFill>
          </c:spPr>
          <c:cat>
            <c:strRef>
              <c:f>Sheet1!$A$2:$A$5</c:f>
              <c:strCache>
                <c:ptCount val="4"/>
                <c:pt idx="0">
                  <c:v>Roubo</c:v>
                </c:pt>
                <c:pt idx="1">
                  <c:v>Furto de
Veículos</c:v>
                </c:pt>
                <c:pt idx="2">
                  <c:v>Furto</c:v>
                </c:pt>
                <c:pt idx="3">
                  <c:v>Homicídio
Doloso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0.692</c:v>
                </c:pt>
                <c:pt idx="1">
                  <c:v>0.464</c:v>
                </c:pt>
                <c:pt idx="2">
                  <c:v>0.452</c:v>
                </c:pt>
                <c:pt idx="3">
                  <c:v>0.124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1818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150">
                <a:solidFill>
                  <a:srgbClr val="3A3A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</c:scaling>
        <c:delete val="0"/>
        <c:axPos val="l"/>
        <c:majorGridlines>
          <c:spPr>
            <a:ln w="6350">
              <a:solidFill>
                <a:srgbClr val="E0E0D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100">
                <a:solidFill>
                  <a:srgbClr val="3A3A3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Variação após início do horário de verão (%)</c:v>
                </c:pt>
              </c:strCache>
            </c:strRef>
          </c:tx>
          <c:spPr>
            <a:solidFill>
              <a:srgbClr val="D9D3C9"/>
            </a:solidFill>
          </c:spPr>
          <c:dPt>
            <c:idx val="2"/>
            <c:spPr>
              <a:solidFill>
                <a:srgbClr val="C1121F"/>
              </a:solidFill>
            </c:spPr>
          </c:dPt>
          <c:cat>
            <c:strRef>
              <c:f>Sheet1!$A$2:$A$4</c:f>
              <c:strCache>
                <c:ptCount val="3"/>
                <c:pt idx="0">
                  <c:v>Roubo
(EUA)</c:v>
                </c:pt>
                <c:pt idx="1">
                  <c:v>Estupro
(EUA)</c:v>
                </c:pt>
                <c:pt idx="2">
                  <c:v>Homicídio
(RS)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-7</c:v>
                </c:pt>
                <c:pt idx="1">
                  <c:v>-11</c:v>
                </c:pt>
                <c:pt idx="2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18181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250">
                <a:solidFill>
                  <a:srgbClr val="3A3A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D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100">
                <a:solidFill>
                  <a:srgbClr val="3A3A3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de retorno (callback)</c:v>
                </c:pt>
              </c:strCache>
            </c:strRef>
          </c:tx>
          <c:spPr>
            <a:solidFill>
              <a:srgbClr val="D9D3C9"/>
            </a:solidFill>
          </c:spPr>
          <c:dPt>
            <c:idx val="3"/>
            <c:spPr>
              <a:solidFill>
                <a:srgbClr val="C1121F"/>
              </a:solidFill>
            </c:spPr>
          </c:dPt>
          <c:dPt>
            <c:idx val="1"/>
            <c:spPr>
              <a:solidFill>
                <a:srgbClr val="B8AE9E"/>
              </a:solidFill>
            </c:spPr>
          </c:dPt>
          <c:cat>
            <c:strRef>
              <c:f>Sheet1!$A$2:$A$5</c:f>
              <c:strCache>
                <c:ptCount val="4"/>
                <c:pt idx="0">
                  <c:v>Brancos,
sem antec.</c:v>
                </c:pt>
                <c:pt idx="1">
                  <c:v>Brancos,
com antec.</c:v>
                </c:pt>
                <c:pt idx="2">
                  <c:v>Negros,
sem antec.</c:v>
                </c:pt>
                <c:pt idx="3">
                  <c:v>Negros,
com antec.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17</c:v>
                </c:pt>
                <c:pt idx="2">
                  <c:v>14</c:v>
                </c:pt>
                <c:pt idx="3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18181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150">
                <a:solidFill>
                  <a:srgbClr val="3A3A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D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100">
                <a:solidFill>
                  <a:srgbClr val="3A3A3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Prevalência de atividade criminal (ilustrativo)</c:v>
                </c:pt>
              </c:strCache>
            </c:strRef>
          </c:tx>
          <c:spPr>
            <a:ln w="38100">
              <a:solidFill>
                <a:srgbClr val="C1121F"/>
              </a:solidFill>
            </a:ln>
          </c:spPr>
          <c:marker>
            <c:spPr>
              <a:solidFill>
                <a:srgbClr val="C1121F"/>
              </a:solidFill>
              <a:ln>
                <a:solidFill>
                  <a:srgbClr val="C1121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  <c:pt idx="5">
                  <c:v>40</c:v>
                </c:pt>
                <c:pt idx="6">
                  <c:v>45</c:v>
                </c:pt>
                <c:pt idx="7">
                  <c:v>50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55</c:v>
                </c:pt>
                <c:pt idx="2">
                  <c:v>80</c:v>
                </c:pt>
                <c:pt idx="3">
                  <c:v>65</c:v>
                </c:pt>
                <c:pt idx="4">
                  <c:v>45</c:v>
                </c:pt>
                <c:pt idx="5">
                  <c:v>30</c:v>
                </c:pt>
                <c:pt idx="6">
                  <c:v>18</c:v>
                </c:pt>
                <c:pt idx="7">
                  <c:v>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250">
                <a:solidFill>
                  <a:srgbClr val="3A3A3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0E0D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100">
                <a:solidFill>
                  <a:srgbClr val="3A3A3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SEMANÍSTICA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C9C6"/>
                </a:solidFill>
                <a:latin typeface="Calibri"/>
              </a:rPr>
              <a:t>UFRGS  ·  DIA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Calibri"/>
              </a:rPr>
              <a:t>SEGURANÇA PÚBLICA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1">
                <a:solidFill>
                  <a:srgbClr val="C1121F"/>
                </a:solidFill>
                <a:latin typeface="Calibri"/>
              </a:rPr>
              <a:t>A Ciência do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8D8D5"/>
                </a:solidFill>
                <a:latin typeface="Calibri"/>
              </a:rPr>
              <a:t>Discurso de abertura  —  versão ampliada com pesquisa em Economia do Crime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892040"/>
            <a:ext cx="128016" cy="128016"/>
          </a:xfrm>
          <a:prstGeom prst="ellips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4892040"/>
            <a:ext cx="128016" cy="128016"/>
          </a:xfrm>
          <a:prstGeom prst="ellipse">
            <a:avLst/>
          </a:prstGeom>
          <a:solidFill>
            <a:srgbClr val="555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4892040"/>
            <a:ext cx="128016" cy="128016"/>
          </a:xfrm>
          <a:prstGeom prst="ellipse">
            <a:avLst/>
          </a:prstGeom>
          <a:solidFill>
            <a:srgbClr val="555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Prof. Dr. Renan Xavier Cortes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0B0AD"/>
                </a:solidFill>
                <a:latin typeface="Calibri"/>
              </a:rPr>
              <a:t>Doutor em Economia do Desenvolvimento (PUCRS) · Fundação de Economia e Estatística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O PANORAMA GAÚCHO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81818"/>
                </a:solidFill>
                <a:latin typeface="Cambria"/>
              </a:rPr>
              <a:t>Do pico de 2017 à queda histórica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67676"/>
                </a:solidFill>
                <a:latin typeface="Calibri"/>
              </a:rPr>
              <a:t>Vítimas de homicídio doloso no Rio Grande do Sul, série histórica da SSP-RS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48840"/>
          <a:ext cx="69494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18120" y="22860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67676"/>
                </a:solidFill>
                <a:latin typeface="Calibri"/>
              </a:rPr>
              <a:t>QUEDA ACUMULADA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542032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1121F"/>
                </a:solidFill>
                <a:latin typeface="Calibri"/>
              </a:rPr>
              <a:t>-47,8%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24612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A3A3A"/>
                </a:solidFill>
                <a:latin typeface="Calibri"/>
              </a:rPr>
              <a:t>2017 → 2021, em relação ao pico histórico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3977639"/>
            <a:ext cx="3840480" cy="1600200"/>
          </a:xfrm>
          <a:prstGeom prst="rect">
            <a:avLst/>
          </a:prstGeom>
          <a:solidFill>
            <a:srgbClr val="E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1605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1818"/>
                </a:solidFill>
                <a:latin typeface="Calibri"/>
              </a:rPr>
              <a:t>497 municípios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526280"/>
            <a:ext cx="3383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A3A3A"/>
                </a:solidFill>
                <a:latin typeface="Calibri"/>
              </a:rPr>
              <a:t>monitorados de forma contínua pela SSP-RS desde 2002, com dados mensais atualizados quase em tempo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66928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Atenção: o Atlas da Violência 2026 mostra que a queda oficial nacional de 2024 (-7,4%) cai para -0,4% quando se corrige a subnotificação — mais adiante retomo esse ponto.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Fonte: SSP-RS; Anuário Brasileiro de Segurança Pública (2024); Atlas da Violência 2026 (Ipea/FBSP).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676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DA ESTATÍSTICA DESCRITIVA À INTELIGÊNCIA TERRITORIAL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81818"/>
                </a:solidFill>
                <a:latin typeface="Cambria"/>
              </a:rPr>
              <a:t>O desafio mudou de escala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685800" cy="685800"/>
          </a:xfrm>
          <a:prstGeom prst="ellips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2024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8"/>
                </a:solidFill>
                <a:latin typeface="Calibri"/>
              </a:rPr>
              <a:t>Georreferenciamento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50008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3A3A3A"/>
                </a:solidFill>
                <a:latin typeface="Calibri"/>
              </a:rPr>
              <a:t>Manchas criminais, clusters de vulnerabilidade e deslocamento de rotas — invisíveis em médias gerais.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383280"/>
            <a:ext cx="685800" cy="685800"/>
          </a:xfrm>
          <a:prstGeom prst="ellips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3756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8"/>
                </a:solidFill>
                <a:latin typeface="Calibri"/>
              </a:rPr>
              <a:t>Fluxo contínuo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67328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3A3A3A"/>
                </a:solidFill>
                <a:latin typeface="Calibri"/>
              </a:rPr>
              <a:t>Não são mais retratos anuais do passado: os indicadores municipais são atualizados de forma quase contínua.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800600"/>
            <a:ext cx="685800" cy="685800"/>
          </a:xfrm>
          <a:prstGeom prst="ellips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548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1818"/>
                </a:solidFill>
                <a:latin typeface="Calibri"/>
              </a:rPr>
              <a:t>Dependência espacial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184648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3A3A3A"/>
                </a:solidFill>
                <a:latin typeface="Calibri"/>
              </a:rPr>
              <a:t>Municípios vizinhos se parecem mais entre si do que municípios distantes — e isso precisa entrar no modelo.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“Uma decisão de segurança sem inteligência geográfica é um recurso público desperdiçado; com dados precisos, é prevenção.”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676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3F3F1"/>
                </a:solidFill>
                <a:latin typeface="Calibri"/>
              </a:rPr>
              <a:t>A PONTE PESSOAL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Quatro anos de doutorado em Economia do Crime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949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8D8D5"/>
                </a:solidFill>
                <a:latin typeface="Calibri"/>
              </a:rPr>
              <a:t>Tese: “Ensaios em Criminalidade no Rio Grande do Sul”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8D8D5"/>
                </a:solidFill>
                <a:latin typeface="Calibri"/>
              </a:rPr>
              <a:t>PUCRS, Programa de Pós-Graduação em Economia do Desenvolvimento, 2017.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63240"/>
            <a:ext cx="2651760" cy="2834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77800" bIns="127000" wrap="square"/>
          <a:lstStyle/>
          <a:p>
            <a:pPr algn="ctr"/>
            <a:r>
              <a:rPr sz="1200" b="1">
                <a:solidFill>
                  <a:srgbClr val="C1121F"/>
                </a:solidFill>
                <a:latin typeface="Calibri"/>
              </a:rPr>
              <a:t>Ensaio 1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350">
                <a:solidFill>
                  <a:srgbClr val="FFFFFF"/>
                </a:solidFill>
                <a:latin typeface="Calibri"/>
              </a:rPr>
              <a:t>Índice bayesiano (INLA) de criminalidade municipal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4992" y="3063240"/>
            <a:ext cx="2651760" cy="2834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77800" bIns="127000" wrap="square"/>
          <a:lstStyle/>
          <a:p>
            <a:pPr algn="ctr"/>
            <a:r>
              <a:rPr sz="1200" b="1">
                <a:solidFill>
                  <a:srgbClr val="C1121F"/>
                </a:solidFill>
                <a:latin typeface="Calibri"/>
              </a:rPr>
              <a:t>Ensaio 2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350">
                <a:solidFill>
                  <a:srgbClr val="FFFFFF"/>
                </a:solidFill>
                <a:latin typeface="Calibri"/>
              </a:rPr>
              <a:t>Horário de verão e homicídios: o efeito da luz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3063240"/>
            <a:ext cx="2651760" cy="2834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77800" bIns="127000" wrap="square"/>
          <a:lstStyle/>
          <a:p>
            <a:pPr algn="ctr"/>
            <a:r>
              <a:rPr sz="1200" b="1">
                <a:solidFill>
                  <a:srgbClr val="C1121F"/>
                </a:solidFill>
                <a:latin typeface="Calibri"/>
              </a:rPr>
              <a:t>Ensaio 3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350">
                <a:solidFill>
                  <a:srgbClr val="FFFFFF"/>
                </a:solidFill>
                <a:latin typeface="Calibri"/>
              </a:rPr>
              <a:t>CrimeVis: visualização interativa de dados criminais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97696" y="3063240"/>
            <a:ext cx="2651760" cy="2834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77800" bIns="127000" wrap="square"/>
          <a:lstStyle/>
          <a:p>
            <a:pPr algn="ctr"/>
            <a:r>
              <a:rPr sz="1200" b="1">
                <a:solidFill>
                  <a:srgbClr val="C1121F"/>
                </a:solidFill>
                <a:latin typeface="Calibri"/>
              </a:rPr>
              <a:t>Ensaio 4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350">
                <a:solidFill>
                  <a:srgbClr val="FFFFFF"/>
                </a:solidFill>
                <a:latin typeface="Calibri"/>
              </a:rPr>
              <a:t>Cadeias de Markov espaço-temporais do crime no 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“Quero compartilhar cinco achados — meus e de outros pesquisadores — que considero um bom motivador para pesquisa nesta universidade.”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9A9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TEMA 1 DE 5 — MINHA TESE, CAPÍTULO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81818"/>
                </a:solidFill>
                <a:latin typeface="Cambria"/>
              </a:rPr>
              <a:t>Armas e criminalidade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67676"/>
                </a:solidFill>
                <a:latin typeface="Calibri"/>
              </a:rPr>
              <a:t>Probabilidade de um município passar a registrar delitos de armas e munições (cadeia de Markov, RS)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31720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03720" y="237744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67676"/>
                </a:solidFill>
                <a:latin typeface="Calibri"/>
              </a:rPr>
              <a:t>O CHOQUE REGULATÓRIO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3A3A"/>
                </a:solidFill>
                <a:latin typeface="Calibri"/>
              </a:rPr>
              <a:t>O Estatuto do Desarmamento entrou em vigor em dezembro de 2003. A probabilidade de um município gaúcho passar a registrar esse tipo de delito saltou de 0,18 para 0,84 no ano seguinte — uma quebra estrutural quase instantânea.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4343400"/>
            <a:ext cx="4709160" cy="1417320"/>
          </a:xfrm>
          <a:prstGeom prst="rect">
            <a:avLst/>
          </a:prstGeom>
          <a:solidFill>
            <a:srgbClr val="E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507992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67676"/>
                </a:solidFill>
                <a:latin typeface="Calibri"/>
              </a:rPr>
              <a:t>NA LITERATURA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800600"/>
            <a:ext cx="4251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3A3A"/>
                </a:solidFill>
                <a:latin typeface="Calibri"/>
              </a:rPr>
              <a:t>Cerqueira &amp; Mello, “Menos Armas, Menos Crimes” (Ipea, TD 1721); Atlas da Violência 2024: maior circulação de armas → maior taxa de homicídio.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Fonte: tese do autor, cap. 5 (SSP-RS, 2002–2016); Cerqueira &amp; Mello (2012/2013), Ipea TD 1721; Atlas da Violência (2024).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676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TEMA 1 DE 5 — APROFUNDANDO O DEBATE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81818"/>
                </a:solidFill>
                <a:latin typeface="Cambria"/>
              </a:rPr>
              <a:t>Um debate que não é consenso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67676"/>
                </a:solidFill>
                <a:latin typeface="Calibri"/>
              </a:rPr>
              <a:t>E um problema metodológico anterior: como medir “disponibilidade de armas” sem um registro nacional confiável?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5394960" cy="3657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“MAIS ARMAS, MENOS CRIME”?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36392"/>
            <a:ext cx="4754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Lott &amp; Mustard (1997) sustentaram que leis americanas de porte oculto (“right-to-carry”) reduziam o crime violento — popularizado no livro “More Guns, Less Crime”.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572000"/>
            <a:ext cx="4754880" cy="12700"/>
          </a:xfrm>
          <a:prstGeom prst="rect">
            <a:avLst/>
          </a:prstGeom>
          <a:solidFill>
            <a:srgbClr val="454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FCFCC"/>
                </a:solidFill>
                <a:latin typeface="Calibri"/>
              </a:rPr>
              <a:t>A CONTESTAÇÃO ACADÊMICA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6636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D8D8D5"/>
                </a:solidFill>
                <a:latin typeface="Calibri"/>
              </a:rPr>
              <a:t>Ayres &amp; Donohue (2003) e o National Research Council (2004) reexaminaram os mesmos dados e não encontraram evidência estatística confiável do efeito. O sinal ainda divide a literatura.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231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COMO MEDIR A DISPONIBILIDADE DE ARMAS?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834640"/>
            <a:ext cx="5349240" cy="1508760"/>
          </a:xfrm>
          <a:prstGeom prst="rect">
            <a:avLst/>
          </a:prstGeom>
          <a:solidFill>
            <a:srgbClr val="E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999232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C0D17"/>
                </a:solidFill>
                <a:latin typeface="Calibri"/>
              </a:rPr>
              <a:t>PROXY 1 — REVISTAS DE ARMAS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337560"/>
            <a:ext cx="4837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3A3A3A"/>
                </a:solidFill>
                <a:latin typeface="Calibri"/>
              </a:rPr>
              <a:t>Duggan (2001, Journal of Political Economy) usou a taxa de assinaturas da revista Guns &amp; Ammo por estado/condado nos EUA — e achou o oposto de Lott: mais armas, mais homicídios.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526280"/>
            <a:ext cx="5349240" cy="1508760"/>
          </a:xfrm>
          <a:prstGeom prst="rect">
            <a:avLst/>
          </a:prstGeom>
          <a:solidFill>
            <a:srgbClr val="E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4690872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C0D17"/>
                </a:solidFill>
                <a:latin typeface="Calibri"/>
              </a:rPr>
              <a:t>PROXY 2 — FRAÇÃO DE SUICÍDIOS POR ARMA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5029200"/>
            <a:ext cx="4837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3A3A3A"/>
                </a:solidFill>
                <a:latin typeface="Calibri"/>
              </a:rPr>
              <a:t>Azrael, Cook &amp; Ludwig (2004): a proporção de suicídios cometidos com arma de fogo é a proxy mais confiável de posse de armas — correlação de 0,81 a 0,90 com pesquisas domiciliares diretas.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Fonte: Lott &amp; Mustard (1997); Ayres &amp; Donohue (2003); National Research Council (2004); Duggan (2001), JPE; Azrael, Cook &amp; Ludwig (2004).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4476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767676"/>
                </a:solidFill>
                <a:latin typeface="Calibri"/>
              </a:rPr>
              <a:t>Ressalva: crime é multicausal, e isolar o efeito causal das armas dos demais fatores concorrentes (desigualdade, tráfico, estagnação econômica) é estatisticamente difícil — tema que o próprio Cerqueira aprofunda em sua tese de doutorado, “Causas e Consequências do Crime no Brasil” (PUC-Rio).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676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TEMA 1 DE 5 — O RETRATO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81818"/>
                </a:solidFill>
                <a:latin typeface="Cambria"/>
              </a:rPr>
              <a:t>Armas de fogo: o que mudou em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67676"/>
                </a:solidFill>
                <a:latin typeface="Calibri"/>
              </a:rPr>
              <a:t>Atlas da Violência 2026 (Ipea/FBSP) — dados de 2024 e panorama legislativo de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67676"/>
                </a:solidFill>
                <a:latin typeface="Calibri"/>
              </a:rPr>
              <a:t>PARTICIPAÇÃO DE ARMAS NOS HOMICÍDIOS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C1121F"/>
                </a:solidFill>
                <a:latin typeface="Calibri"/>
              </a:rPr>
              <a:t>70,1%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6499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3A3A"/>
                </a:solidFill>
                <a:latin typeface="Calibri"/>
              </a:rPr>
              <a:t>dos homicídios no Brasil em 2024 foram cometidos com arma de fogo — o menor percentual da década, ainda a maioria esmagadora.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14800"/>
            <a:ext cx="5120640" cy="178308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1121F"/>
                </a:solidFill>
                <a:latin typeface="Calibri"/>
              </a:rPr>
              <a:t>RS NO TOP 10 NACIONAL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8172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 Rio Grande do Sul é um dos apenas 2 estados fora do Nordeste (ao lado do Amapá) entre os 10 com maior participação de armas de fogo nos homicídios: 71,8% em 2024.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331720"/>
            <a:ext cx="5349240" cy="1828800"/>
          </a:xfrm>
          <a:prstGeom prst="rect">
            <a:avLst/>
          </a:prstGeom>
          <a:solidFill>
            <a:srgbClr val="E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514600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C0D17"/>
                </a:solidFill>
                <a:latin typeface="Calibri"/>
              </a:rPr>
              <a:t>ARMAS DE ESTILO MILITAR EM ALTA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880360"/>
            <a:ext cx="48371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3A3A3A"/>
                </a:solidFill>
                <a:latin typeface="Calibri"/>
              </a:rPr>
              <a:t>Langeani &amp; Pollachi (2025): a participação de armas de estilo militar nas apreensões cresceu de 1,7% para 2,4% no país (e de 3% para 4,3% no Sudeste) entre 2019 e 2023 — ligada à flexibilização regulatória do período.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343400"/>
            <a:ext cx="5349240" cy="1554480"/>
          </a:xfrm>
          <a:prstGeom prst="rect">
            <a:avLst/>
          </a:prstGeom>
          <a:solidFill>
            <a:srgbClr val="E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4507992"/>
            <a:ext cx="48371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C0D17"/>
                </a:solidFill>
                <a:latin typeface="Calibri"/>
              </a:rPr>
              <a:t>UMA NOVA ONDA LEGISLATIVA (2025)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846320"/>
            <a:ext cx="483717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3A3A3A"/>
                </a:solidFill>
                <a:latin typeface="Calibri"/>
              </a:rPr>
              <a:t>O próprio Atlas 2026 mapeou 53 projetos de lei na Câmara dos Deputados em 2025 que ampliam o acesso a armas — de isenção de imposto a uso do FGTS para comprar a primeira arma.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Fonte: Atlas da Violência 2026 (Ipea/FBSP), capítulo 11; Langeani &amp; Pollachi (2025), Journal of Illicit Economies and Development.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676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TEMA 2 DE 5 — MINHA TESE, CAPÍTULOS 2 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81818"/>
                </a:solidFill>
                <a:latin typeface="Cambria"/>
              </a:rPr>
              <a:t>Análise geoespacial e espaço-temporal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67676"/>
                </a:solidFill>
                <a:latin typeface="Calibri"/>
              </a:rPr>
              <a:t>Índice de Moran (autocorrelação espacial) por tipo de crime — RS, 2015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77440"/>
          <a:ext cx="603504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03720" y="237744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67676"/>
                </a:solidFill>
                <a:latin typeface="Calibri"/>
              </a:rPr>
              <a:t>METODOLOGIA DA TESE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3A3A"/>
                </a:solidFill>
                <a:latin typeface="Calibri"/>
              </a:rPr>
              <a:t>Índice bayesiano (INLA) suaviza a alta variância de municípios pequenos; o Índice de Moran confirma que o crime forma clusters no espaço, não se distribui ao acaso.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4251960"/>
            <a:ext cx="4709160" cy="155448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416552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FCFCC"/>
                </a:solidFill>
                <a:latin typeface="Calibri"/>
              </a:rPr>
              <a:t>LITERATURA RECENTE (2023–2025)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709160"/>
            <a:ext cx="4251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Redes neurais em grafos, modelos transformer e híbridos CNN+LSTM já preveem crime espaço-temporalmente, tratando o mesmo problema de dados esparsos que motivou a abordagem bayesiana da tese.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Fonte: tese do autor, capítulo 2 (Tabela 2.5.3); literatura recente em ScienceDirect, Springer e arXiv (2023–2025).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6767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TEMA 3 DE 5 — MINHA TESE, CAPÍTULO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81818"/>
                </a:solidFill>
                <a:latin typeface="Cambria"/>
              </a:rPr>
              <a:t>Luz e criminalidade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67676"/>
                </a:solidFill>
                <a:latin typeface="Calibri"/>
              </a:rPr>
              <a:t>Efeito do horário de verão sobre o crime: variação percentual estimada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31720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03720" y="237744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67676"/>
                </a:solidFill>
                <a:latin typeface="Calibri"/>
              </a:rPr>
              <a:t>DOLEAC &amp; SANDERS (2015)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3A3A"/>
                </a:solidFill>
                <a:latin typeface="Calibri"/>
              </a:rPr>
              <a:t>Nos EUA, mais luz ao fim do dia reduziu roubos e estupros. No RS, a mesma descontinuidade não teve efeito significativo sobre homicídios — um caso clássico de validade externa.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4069080"/>
            <a:ext cx="4709160" cy="1737360"/>
          </a:xfrm>
          <a:prstGeom prst="rect">
            <a:avLst/>
          </a:prstGeom>
          <a:solidFill>
            <a:srgbClr val="E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233672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67676"/>
                </a:solidFill>
                <a:latin typeface="Calibri"/>
              </a:rPr>
              <a:t>MAS A ESCURIDÃO IMPORTA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526280"/>
            <a:ext cx="4251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3A3A"/>
                </a:solidFill>
                <a:latin typeface="Calibri"/>
              </a:rPr>
              <a:t>Homicídios no RS têm picos claros entre 19h–23h e por volta da 1h — e um efeito fim de semana nítido (sábado/domingo). O efeito existe; o método do horário de verão é rápido demais para capturá-lo.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Fonte: tese do autor, capítulo 3 (SIM/FEE-RS, 2006–2014); Doleac &amp; Sanders (2015), Review of Economics and Statistics.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6767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TEMA 4 DE 5 — LITERATURA INTERNACIONAL E BRASILEIRA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81818"/>
                </a:solidFill>
                <a:latin typeface="Cambria"/>
              </a:rPr>
              <a:t>O efeito estigma de ex-presidiários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67676"/>
                </a:solidFill>
                <a:latin typeface="Calibri"/>
              </a:rPr>
              <a:t>Taxa de retorno de candidaturas de emprego idênticas, por raça e antecedente criminal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31720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03720" y="237744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67676"/>
                </a:solidFill>
                <a:latin typeface="Calibri"/>
              </a:rPr>
              <a:t>PAGER (2003), AJS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3A3A"/>
                </a:solidFill>
                <a:latin typeface="Calibri"/>
              </a:rPr>
              <a:t>Candidatos com antecedentes receberam menos da metade dos retornos. Entre negros, ter antecedente reduzia as chances a um patamar pior que o de brancos recém-saídos da prisão.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4069080"/>
            <a:ext cx="4709160" cy="173736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233672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FCFCC"/>
                </a:solidFill>
                <a:latin typeface="Calibri"/>
              </a:rPr>
              <a:t>NO BRASIL (DEPEN, 2022)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526280"/>
            <a:ext cx="4251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Reincidência: ~21% no 1º ano após a soltura, subindo para 37,6%–42,5% em 5 anos. O estigma do antecedente reduz o custo de oportunidade do crime.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Fonte: Pager (2003), American Journal of Sociology, v.108; Depen, Reincidência Criminal no Brasil (2022).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6767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67676"/>
                </a:solidFill>
                <a:latin typeface="Calibri"/>
              </a:rPr>
              <a:t>TEMA 5 DE 5 — LITERATURA INTERNACIONAL E BRASILEIRA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81818"/>
                </a:solidFill>
                <a:latin typeface="Cambria"/>
              </a:rPr>
              <a:t>Tempo de carreira criminal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67676"/>
                </a:solidFill>
                <a:latin typeface="Calibri"/>
              </a:rPr>
              <a:t>Curva idade-crime — representação estilizada (ilustrativa)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31720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03720" y="237744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67676"/>
                </a:solidFill>
                <a:latin typeface="Calibri"/>
              </a:rPr>
              <a:t>O PICO ESTÁ ENVELHECENDO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709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A3A3A"/>
                </a:solidFill>
                <a:latin typeface="Calibri"/>
              </a:rPr>
              <a:t>Dados de prisões nos EUA em 2024 mostram a idade de pico próxima dos 32 anos — mais alta que os padrões históricos da curva idade-crime.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4069080"/>
            <a:ext cx="4709160" cy="1737360"/>
          </a:xfrm>
          <a:prstGeom prst="rect">
            <a:avLst/>
          </a:prstGeom>
          <a:solidFill>
            <a:srgbClr val="E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233672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67676"/>
                </a:solidFill>
                <a:latin typeface="Calibri"/>
              </a:rPr>
              <a:t>IMPLICAÇÃO DE POLÍTICA PÚBLICA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526280"/>
            <a:ext cx="4251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3A3A"/>
                </a:solidFill>
                <a:latin typeface="Calibri"/>
              </a:rPr>
              <a:t>O maior efeito incapacitador hoje está entre 30–40 anos, não no pico jovem. No Brasil, pesquisas recentes (ex.: Oliveira, C.A.) estudam dissuasão, armas e carreira criminosa.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67676"/>
                </a:solidFill>
                <a:latin typeface="Calibri"/>
              </a:rPr>
              <a:t>Fonte: análise de dados de prisões nos EUA (2024); literatura brasileira de economia do crime sobre duração de carreira criminosa.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676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DA PESQUISA À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881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Cinco temas,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uma mensagem só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D8D8D5"/>
                </a:solidFill>
                <a:latin typeface="Calibri"/>
              </a:rPr>
              <a:t>Armas, espaço, luz, estigma e tempo de carreira: cada fenômeno tem uma assinatura estatística que pode ser medida, testada e usada para decidir melhor.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11064240" cy="127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9A9A"/>
                </a:solidFill>
                <a:latin typeface="Calibri"/>
              </a:rPr>
              <a:t>PRÓXIMO NA PROGRAMAÇÃO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1121F"/>
                </a:solidFill>
                <a:latin typeface="Calibri"/>
              </a:rPr>
              <a:t>Henrique Joner e equipe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8D8D5"/>
                </a:solidFill>
                <a:latin typeface="Calibri"/>
              </a:rPr>
              <a:t>Georreferenciamento operacional e inteligência aplicada à gestão de crises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Muito obrigado.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9A9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